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eauuI3AsxXZRpVrnl/QMoXl9+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postgresql.org/docs/" TargetMode="External"/><Relationship Id="rId10" Type="http://schemas.openxmlformats.org/officeDocument/2006/relationships/hyperlink" Target="https://www.twilio.com/docs/sms" TargetMode="External"/><Relationship Id="rId13" Type="http://schemas.openxmlformats.org/officeDocument/2006/relationships/hyperlink" Target="https://redis.io/documentation" TargetMode="External"/><Relationship Id="rId12" Type="http://schemas.openxmlformats.org/officeDocument/2006/relationships/hyperlink" Target="https://www.postgresql.org/docs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django-rest-framework.org/" TargetMode="External"/><Relationship Id="rId4" Type="http://schemas.openxmlformats.org/officeDocument/2006/relationships/hyperlink" Target="https://www.django-rest-framework.org/" TargetMode="External"/><Relationship Id="rId9" Type="http://schemas.openxmlformats.org/officeDocument/2006/relationships/hyperlink" Target="https://www.twilio.com/docs/sms" TargetMode="External"/><Relationship Id="rId15" Type="http://schemas.openxmlformats.org/officeDocument/2006/relationships/hyperlink" Target="https://docs.celeryq.dev/" TargetMode="External"/><Relationship Id="rId14" Type="http://schemas.openxmlformats.org/officeDocument/2006/relationships/hyperlink" Target="https://redis.io/documentation" TargetMode="External"/><Relationship Id="rId17" Type="http://schemas.openxmlformats.org/officeDocument/2006/relationships/hyperlink" Target="https://owasp.org/www-project-top-ten/" TargetMode="External"/><Relationship Id="rId16" Type="http://schemas.openxmlformats.org/officeDocument/2006/relationships/hyperlink" Target="https://docs.celeryq.dev/" TargetMode="External"/><Relationship Id="rId5" Type="http://schemas.openxmlformats.org/officeDocument/2006/relationships/hyperlink" Target="https://flutter.dev/docs" TargetMode="External"/><Relationship Id="rId6" Type="http://schemas.openxmlformats.org/officeDocument/2006/relationships/hyperlink" Target="https://flutter.dev/docs" TargetMode="External"/><Relationship Id="rId18" Type="http://schemas.openxmlformats.org/officeDocument/2006/relationships/hyperlink" Target="https://owasp.org/www-project-top-ten/" TargetMode="External"/><Relationship Id="rId7" Type="http://schemas.openxmlformats.org/officeDocument/2006/relationships/hyperlink" Target="https://firebase.google.com/docs/cloud-messaging" TargetMode="External"/><Relationship Id="rId8" Type="http://schemas.openxmlformats.org/officeDocument/2006/relationships/hyperlink" Target="https://firebase.google.com/docs/cloud-messagin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851550" y="2780527"/>
            <a:ext cx="83490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ID: 5</a:t>
            </a:r>
            <a:endParaRPr b="1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I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Paper Title: KSIT NEXUS</a:t>
            </a:r>
            <a:endParaRPr b="1" i="0" sz="22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851550" y="3717425"/>
            <a:ext cx="7243200" cy="3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of Authors with Affiliation:</a:t>
            </a:r>
            <a:endParaRPr b="1" i="0" sz="2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Samhita P (1KS22CS130), CSE Dept, KSIT, Bengaluru, India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Vignesh S</a:t>
            </a:r>
            <a:r>
              <a:rPr b="1"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(1KS22CS184), CSE Dept, KSIT, Bengaluru, India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Shreya Murthy (1KS22CS146), CSE Dept, KSIT, Bengaluru, India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Umesh Bhatta (1KS22CS176), CSE Dept, KSIT, Bengaluru, India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759041" y="1118715"/>
            <a:ext cx="1018905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Conference on Recent Trends in Computing  and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Technologies –ICRCCT’2K25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  <a:r>
              <a:rPr b="1" baseline="30000" lang="en-IN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b="1" lang="en-IN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22</a:t>
            </a:r>
            <a:r>
              <a:rPr b="1" baseline="30000" lang="en-IN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b="1" lang="en-IN" sz="28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November 2025 </a:t>
            </a:r>
            <a:endParaRPr b="1" sz="28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1662258" y="1762889"/>
            <a:ext cx="7491167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lang="en-IN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lang="en-IN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lang="en-IN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lang="en-IN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 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lang="en-IN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lang="en-IN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&amp;Future Enhancement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•"/>
            </a:pPr>
            <a:r>
              <a:rPr lang="en-IN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3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298775" y="2140075"/>
            <a:ext cx="11339700" cy="43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KSIT Nexus is a comprehensive digital campus management solution designed to streamline academic workflows, communication, and student–faculty engagement.</a:t>
            </a:r>
            <a:b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integrates 19 modules including notices, study groups, academic planner, chatbot, safety alerts, and complaints management.</a:t>
            </a:r>
            <a:b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with a </a:t>
            </a: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Django REST backend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Flutter frontend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it ensures scalability, real-time interaction, and secure authentication.</a:t>
            </a:r>
            <a:b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enhances operational efficiency, student wellbeing, and campus connectivity through automation and centralized access.</a:t>
            </a:r>
            <a:b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paper presents the architecture, methodology, and implementation of the KSIT Nexus platform.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4657650" y="1243725"/>
            <a:ext cx="2876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1" sz="3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/>
        </p:nvSpPr>
        <p:spPr>
          <a:xfrm>
            <a:off x="298775" y="2140075"/>
            <a:ext cx="11339700" cy="43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educational institutions require centralized digital systems to manage academic, administrative, and communication workflows.</a:t>
            </a:r>
            <a:b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KSIT Nexus addresses fragmented systems by offering an all-in-one platform for students, faculty, and administrators.</a:t>
            </a:r>
            <a:b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solution emphasizes </a:t>
            </a:r>
            <a:r>
              <a:rPr b="1"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notifications</a:t>
            </a: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planning</a:t>
            </a: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</a:t>
            </a: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community building</a:t>
            </a: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role-based access</a:t>
            </a: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supports 37+ responsive screens, 18 backend modules, and 100+ APIs—making it a full-scale digital campus ecosystem.</a:t>
            </a:r>
            <a:b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aligns with digital transformation goals for modern institutions.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3991800" y="1243725"/>
            <a:ext cx="4208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3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/>
        </p:nvSpPr>
        <p:spPr>
          <a:xfrm>
            <a:off x="298775" y="2140075"/>
            <a:ext cx="11339700" cy="43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campus systems often lack unified communication, leading to information gaps.</a:t>
            </a:r>
            <a:b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LMS platforms provide academics but fail to integrate complaints, safety alerts, and social interactions.</a:t>
            </a:r>
            <a:b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portals typically lack mobile responsiveness, push notifications, and student community features.</a:t>
            </a:r>
            <a:b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highlights the need for holistic platforms combining academics, administration, wellbeing, and communication.</a:t>
            </a:r>
            <a:b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KSIT Nexus fills these gaps by integrating multiple systems into one cohesive ecosystem.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3377400" y="1243725"/>
            <a:ext cx="5437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1" sz="3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/>
        </p:nvSpPr>
        <p:spPr>
          <a:xfrm>
            <a:off x="298775" y="2140075"/>
            <a:ext cx="5523900" cy="4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Architecture Approach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Django + DRF, PostgreSQL, Redis caching, Celery task queues</a:t>
            </a:r>
            <a:b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Flutter (Android, iOS, Web) with Riverpod state management</a:t>
            </a:r>
            <a:b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Real-time: WebSockets for notifications and chat</a:t>
            </a:r>
            <a:b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Module Development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Authentication with JWT, OTP, and multi-factor support</a:t>
            </a:r>
            <a:b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modules: Notices, Study Groups, Academic Planner, Chatbot, Safety Alerts, Complaints</a:t>
            </a:r>
            <a:b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2428950" y="1148250"/>
            <a:ext cx="7334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METHODOLOGY</a:t>
            </a:r>
            <a:endParaRPr b="1" sz="3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6197900" y="2063650"/>
            <a:ext cx="5232000" cy="42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Workflow Design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 API-driven communication</a:t>
            </a:r>
            <a:b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Role-based access control (Student/Faculty/Admin)</a:t>
            </a:r>
            <a:b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Asynchronous background tasks for notifications and scheduling</a:t>
            </a:r>
            <a:b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Deployment Strategy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Dockerized deployment</a:t>
            </a:r>
            <a:b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Nginx reverse proxy + Gunicorn</a:t>
            </a:r>
            <a:b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 with Prometheus &amp; Grafana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/>
        </p:nvSpPr>
        <p:spPr>
          <a:xfrm>
            <a:off x="298775" y="2140075"/>
            <a:ext cx="11339700" cy="43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implemented </a:t>
            </a:r>
            <a:r>
              <a:rPr b="1"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major modules</a:t>
            </a: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seamless backend–frontend integration.</a:t>
            </a:r>
            <a:b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</a:t>
            </a:r>
            <a:r>
              <a:rPr b="1"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notifications</a:t>
            </a: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OTP verification</a:t>
            </a: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responsive UI</a:t>
            </a: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devices.</a:t>
            </a:r>
            <a:b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Delivered user-friendly workflows for complaints, notices, study groups, academics, and safety alerts.</a:t>
            </a:r>
            <a:b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100+ stable API endpoints with optimized database queries and Redis caching.</a:t>
            </a:r>
            <a:b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student engagement via gamification, chatbot support, and study group discussions.</a:t>
            </a:r>
            <a:b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operational efficiency with automated schedules, academic tracking, and faculty tools.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4847100" y="1222875"/>
            <a:ext cx="2497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 sz="3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/>
        </p:nvSpPr>
        <p:spPr>
          <a:xfrm>
            <a:off x="382150" y="2369375"/>
            <a:ext cx="4794300" cy="43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KSIT Nexus centralizes academic, administrative, and community features into a single cohesive platform.</a:t>
            </a:r>
            <a:b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improved communication, productivity, and campus safety.</a:t>
            </a:r>
            <a:b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architecture supports future institutional growth.</a:t>
            </a:r>
            <a:b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8"/>
          <p:cNvSpPr txBox="1"/>
          <p:nvPr/>
        </p:nvSpPr>
        <p:spPr>
          <a:xfrm>
            <a:off x="572100" y="1222900"/>
            <a:ext cx="11047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AND FUTURE ENHANCEMENTS</a:t>
            </a:r>
            <a:endParaRPr b="1" sz="3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5718475" y="2285950"/>
            <a:ext cx="5794800" cy="43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conferencing integration</a:t>
            </a:r>
            <a:b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analytics &amp; predictive learning insights</a:t>
            </a:r>
            <a:b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Payment gateway integration</a:t>
            </a:r>
            <a:b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chatbot with LLM capabilities</a:t>
            </a:r>
            <a:b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Attendance automation via face recognition</a:t>
            </a:r>
            <a:b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LMS integration</a:t>
            </a:r>
            <a:br>
              <a:rPr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/>
        </p:nvSpPr>
        <p:spPr>
          <a:xfrm>
            <a:off x="298775" y="2140075"/>
            <a:ext cx="11339700" cy="43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Django REST Framework Documentation —</a:t>
            </a:r>
            <a:r>
              <a:rPr lang="en-IN" sz="23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2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https://www.django-rest-framework.org/</a:t>
            </a:r>
            <a:endParaRPr sz="23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Flutter Official Documentation —</a:t>
            </a:r>
            <a:r>
              <a:rPr lang="en-IN" sz="23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2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/>
              </a:rPr>
              <a:t>https://flutter.dev/docs</a:t>
            </a:r>
            <a:endParaRPr sz="23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Firebase Cloud Messaging (FCM) —</a:t>
            </a:r>
            <a:r>
              <a:rPr lang="en-IN" sz="23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2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/>
              </a:rPr>
              <a:t>https://firebase.google.com/docs/cloud-messaging</a:t>
            </a:r>
            <a:endParaRPr sz="23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Twilio SMS API Documentation —</a:t>
            </a:r>
            <a:r>
              <a:rPr lang="en-IN" sz="23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2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/>
              </a:rPr>
              <a:t>https://www.twilio.com/docs/sms</a:t>
            </a:r>
            <a:endParaRPr sz="23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PostgreSQL Database Documentation —</a:t>
            </a:r>
            <a:r>
              <a:rPr lang="en-IN" sz="23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2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/>
              </a:rPr>
              <a:t>https://www.postgresql.org/docs/</a:t>
            </a:r>
            <a:endParaRPr sz="23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Redis Official Documentation —</a:t>
            </a:r>
            <a:r>
              <a:rPr lang="en-IN" sz="23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2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/>
              </a:rPr>
              <a:t>https://redis.io/documentation</a:t>
            </a:r>
            <a:endParaRPr sz="23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Celery Distributed Task Queue —</a:t>
            </a:r>
            <a:r>
              <a:rPr lang="en-IN" sz="23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2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6"/>
              </a:rPr>
              <a:t>https://docs.celeryq.dev/</a:t>
            </a:r>
            <a:endParaRPr sz="23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OWASP Security Guidelines —</a:t>
            </a:r>
            <a:r>
              <a:rPr lang="en-IN" sz="23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IN" sz="23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8"/>
              </a:rPr>
              <a:t>https://owasp.org/www-project-top-ten/</a:t>
            </a:r>
            <a:endParaRPr sz="2300" u="sng">
              <a:solidFill>
                <a:schemeClr val="hlink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Papers on Campus Management Systems — IEEE Xplore, SpringerLink (2020–2024)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Tutorials &amp; Blogs — Real Python, GeeksforGeeks, Medium (Tech Articles)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4325850" y="1264575"/>
            <a:ext cx="3540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 sz="3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4504968" y="2874997"/>
            <a:ext cx="31821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80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 b="1" sz="800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/>
          <p:nvPr/>
        </p:nvSpPr>
        <p:spPr>
          <a:xfrm>
            <a:off x="2523901" y="2967300"/>
            <a:ext cx="7144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84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</a:t>
            </a:r>
            <a:endParaRPr b="1" sz="840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2025-11-18T09:26:57Z</dcterms:created>
  <dc:creator>C VALAR MATHI</dc:creator>
</cp:coreProperties>
</file>